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60000"/>
          </a:xfrm>
          <a:prstGeom prst="rect">
            <a:avLst/>
          </a:prstGeom>
          <a:solidFill>
            <a:srgbClr val="5B8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206240"/>
            <a:ext cx="12191695" cy="30000"/>
          </a:xfrm>
          <a:prstGeom prst="rect">
            <a:avLst/>
          </a:prstGeom>
          <a:solidFill>
            <a:srgbClr val="7C5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1051560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Entendendo Blocklists de Nível Comunitário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8FB4F2"/>
                </a:solidFill>
                <a:latin typeface="Calibri"/>
              </a:rPr>
              <a:t>em Redes Sociais Descentralizadas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434840"/>
            <a:ext cx="10515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C9D6F0"/>
                </a:solidFill>
                <a:latin typeface="Calibri"/>
              </a:rPr>
              <a:t>Zhang, Hwang, Liu, Horta Ribeiro &amp; Monroy-Hernández — Princeton University (2025)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555B66"/>
                </a:solidFill>
                <a:latin typeface="Calibri"/>
              </a:rPr>
              <a:t>Moderação de conteúdo no Mastodon / Fediverse • arXiv:2506.05522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0350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5B8DEF"/>
                </a:solidFill>
                <a:latin typeface="Calibri"/>
              </a:rPr>
              <a:t>Apresentação de artigo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8000"/>
          </a:xfrm>
          <a:prstGeom prst="rect">
            <a:avLst/>
          </a:prstGeom>
          <a:solidFill>
            <a:srgbClr val="5B8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9728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Contexto e Motivação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B9CBEE"/>
                </a:solidFill>
                <a:latin typeface="Calibri"/>
              </a:rPr>
              <a:t>Por que estudar blocklists?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6492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700">
                <a:solidFill>
                  <a:srgbClr val="555B66"/>
                </a:solidFill>
                <a:latin typeface="Calibri"/>
              </a:rPr>
              <a:t>•  Moderação = decidir o que aceitar ou rejeitar para manter o diálogo civil (o "paradoxo da tolerância" de Popper).</a:t>
            </a:r>
          </a:p>
          <a:p>
            <a:pPr>
              <a:spcAft>
                <a:spcPts val="1300"/>
              </a:spcAft>
            </a:pPr>
            <a:r>
              <a:rPr sz="1700">
                <a:solidFill>
                  <a:srgbClr val="555B66"/>
                </a:solidFill>
                <a:latin typeface="Calibri"/>
              </a:rPr>
              <a:t>•  Pesquisa anterior focou em plataformas centralizadas (X, Reddit) e em blocklists individuais.</a:t>
            </a:r>
          </a:p>
          <a:p>
            <a:pPr>
              <a:spcAft>
                <a:spcPts val="1300"/>
              </a:spcAft>
            </a:pPr>
            <a:r>
              <a:rPr sz="1700">
                <a:solidFill>
                  <a:srgbClr val="555B66"/>
                </a:solidFill>
                <a:latin typeface="Calibri"/>
              </a:rPr>
              <a:t>•  No Mastodon / Fediverse não existe "plataforma": milhares de instâncias independentes conectadas via protocolo ActivityPub.</a:t>
            </a:r>
          </a:p>
          <a:p>
            <a:pPr>
              <a:spcAft>
                <a:spcPts val="1300"/>
              </a:spcAft>
            </a:pPr>
            <a:r>
              <a:rPr sz="1700">
                <a:solidFill>
                  <a:srgbClr val="555B66"/>
                </a:solidFill>
                <a:latin typeface="Calibri"/>
              </a:rPr>
              <a:t>•  Cada instância define suas próprias regras — não há autoridade central de moderação.</a:t>
            </a:r>
          </a:p>
          <a:p>
            <a:pPr>
              <a:spcAft>
                <a:spcPts val="1300"/>
              </a:spcAft>
            </a:pPr>
            <a:r>
              <a:rPr sz="1700">
                <a:solidFill>
                  <a:srgbClr val="555B66"/>
                </a:solidFill>
                <a:latin typeface="Calibri"/>
              </a:rPr>
              <a:t>•  A principal ferramenta entre instâncias é a blocklist de nível comunitário: bloquear instâncias inteiras.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60920" y="1463040"/>
            <a:ext cx="4251960" cy="4480560"/>
          </a:xfrm>
          <a:prstGeom prst="rect">
            <a:avLst/>
          </a:prstGeom>
          <a:solidFill>
            <a:srgbClr val="F3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60920" y="1463040"/>
            <a:ext cx="109728" cy="4480560"/>
          </a:xfrm>
          <a:prstGeom prst="rect">
            <a:avLst/>
          </a:prstGeom>
          <a:solidFill>
            <a:srgbClr val="7C5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35240" y="1691640"/>
            <a:ext cx="3749039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1">
                <a:solidFill>
                  <a:srgbClr val="1B2A4A"/>
                </a:solidFill>
                <a:latin typeface="Calibri"/>
              </a:rPr>
              <a:t>O impacto do bloqueio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0">
                <a:solidFill>
                  <a:srgbClr val="555B66"/>
                </a:solidFill>
                <a:latin typeface="Calibri"/>
              </a:rPr>
              <a:t>Bloquear instâncias grandes (ex.: mastodon.social) pode cortar a comunidade de grande parte do Fediverse.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400" b="0">
                <a:solidFill>
                  <a:srgbClr val="555B66"/>
                </a:solidFill>
                <a:latin typeface="Calibri"/>
              </a:rPr>
              <a:t>Decisões de nível comunitário são muito mais impactantes que bloqueios individuais.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7C5CE6"/>
                </a:solidFill>
                <a:latin typeface="Calibri"/>
              </a:rPr>
              <a:t>Falsos positivos têm consequências sérias.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55B66"/>
                </a:solidFill>
                <a:latin typeface="Calibri"/>
              </a:rPr>
              <a:t>Community-Level Blocklists in Decentralized Social Media — Zhang et al., 2025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5B8DEF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8000"/>
          </a:xfrm>
          <a:prstGeom prst="rect">
            <a:avLst/>
          </a:prstGeom>
          <a:solidFill>
            <a:srgbClr val="5B8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9728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Perguntas de Pesquisa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B9CBEE"/>
                </a:solidFill>
                <a:latin typeface="Calibri"/>
              </a:rPr>
              <a:t>Abordagem de métodos mistos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371600" cy="1234440"/>
          </a:xfrm>
          <a:prstGeom prst="rect">
            <a:avLst/>
          </a:prstGeom>
          <a:solidFill>
            <a:srgbClr val="5B8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37160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RQ1</a:t>
            </a:r>
          </a:p>
        </p:txBody>
      </p:sp>
      <p:sp>
        <p:nvSpPr>
          <p:cNvPr id="8" name="Rectangle 7"/>
          <p:cNvSpPr/>
          <p:nvPr/>
        </p:nvSpPr>
        <p:spPr>
          <a:xfrm>
            <a:off x="2148840" y="1463040"/>
            <a:ext cx="9418320" cy="1234440"/>
          </a:xfrm>
          <a:prstGeom prst="rect">
            <a:avLst/>
          </a:prstGeom>
          <a:solidFill>
            <a:srgbClr val="F3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23160" y="1463040"/>
            <a:ext cx="896112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1B2A4A"/>
                </a:solidFill>
                <a:latin typeface="Calibri"/>
              </a:rPr>
              <a:t>Qual é o panorama atual das blocklists de nível comunitário?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926080"/>
            <a:ext cx="1371600" cy="1234440"/>
          </a:xfrm>
          <a:prstGeom prst="rect">
            <a:avLst/>
          </a:prstGeom>
          <a:solidFill>
            <a:srgbClr val="7C5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926080"/>
            <a:ext cx="137160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RQ2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48840" y="2926080"/>
            <a:ext cx="9418320" cy="1234440"/>
          </a:xfrm>
          <a:prstGeom prst="rect">
            <a:avLst/>
          </a:prstGeom>
          <a:solidFill>
            <a:srgbClr val="F3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23160" y="2926080"/>
            <a:ext cx="896112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1B2A4A"/>
                </a:solidFill>
                <a:latin typeface="Calibri"/>
              </a:rPr>
              <a:t>Como moderadores interpretam e aplicam as blocklists na prática?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389120"/>
            <a:ext cx="1371600" cy="1234440"/>
          </a:xfrm>
          <a:prstGeom prst="rect">
            <a:avLst/>
          </a:prstGeom>
          <a:solidFill>
            <a:srgbClr val="2EA0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389120"/>
            <a:ext cx="137160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RQ3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148840" y="4389120"/>
            <a:ext cx="9418320" cy="1234440"/>
          </a:xfrm>
          <a:prstGeom prst="rect">
            <a:avLst/>
          </a:prstGeom>
          <a:solidFill>
            <a:srgbClr val="F3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23160" y="4389120"/>
            <a:ext cx="896112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1B2A4A"/>
                </a:solidFill>
                <a:latin typeface="Calibri"/>
              </a:rPr>
              <a:t>Que melhorias de design tornariam essas ferramentas mais úteis e eficazes?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55B66"/>
                </a:solidFill>
                <a:latin typeface="Calibri"/>
              </a:rPr>
              <a:t>Community-Level Blocklists in Decentralized Social Media — Zhang et al., 2025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5B8DEF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8000"/>
          </a:xfrm>
          <a:prstGeom prst="rect">
            <a:avLst/>
          </a:prstGeom>
          <a:solidFill>
            <a:srgbClr val="5B8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9728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Metodologia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B9CBEE"/>
                </a:solidFill>
                <a:latin typeface="Calibri"/>
              </a:rPr>
              <a:t>Duas etapas complementares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5394960" cy="4480560"/>
          </a:xfrm>
          <a:prstGeom prst="rect">
            <a:avLst/>
          </a:prstGeom>
          <a:solidFill>
            <a:srgbClr val="F3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5394960" cy="640080"/>
          </a:xfrm>
          <a:prstGeom prst="rect">
            <a:avLst/>
          </a:prstGeom>
          <a:solidFill>
            <a:srgbClr val="5B8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53949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1 · Análise de Conteúdo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40280"/>
            <a:ext cx="49377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500">
                <a:solidFill>
                  <a:srgbClr val="555B66"/>
                </a:solidFill>
                <a:latin typeface="Calibri"/>
              </a:rPr>
              <a:t>•  ~8.700 instâncias Mastodon; analisadas 1.807 (≥10 usuários ativos).</a:t>
            </a:r>
          </a:p>
          <a:p>
            <a:pPr>
              <a:spcAft>
                <a:spcPts val="1100"/>
              </a:spcAft>
            </a:pPr>
            <a:r>
              <a:rPr sz="1500">
                <a:solidFill>
                  <a:srgbClr val="555B66"/>
                </a:solidFill>
                <a:latin typeface="Calibri"/>
              </a:rPr>
              <a:t>•  5 blocklists compartilhadas (Garden Fence, CARIAD, IFTAS-DNI, Seirdy Tier-0, FediNuke).</a:t>
            </a:r>
          </a:p>
          <a:p>
            <a:pPr>
              <a:spcAft>
                <a:spcPts val="1100"/>
              </a:spcAft>
            </a:pPr>
            <a:r>
              <a:rPr sz="1500">
                <a:solidFill>
                  <a:srgbClr val="555B66"/>
                </a:solidFill>
                <a:latin typeface="Calibri"/>
              </a:rPr>
              <a:t>•  4 ferramentas (FediCheck, FediBlockHole, Fediseer, The Bad Space).</a:t>
            </a:r>
          </a:p>
          <a:p>
            <a:pPr>
              <a:spcAft>
                <a:spcPts val="1100"/>
              </a:spcAft>
            </a:pPr>
            <a:r>
              <a:rPr sz="1500">
                <a:solidFill>
                  <a:srgbClr val="555B66"/>
                </a:solidFill>
                <a:latin typeface="Calibri"/>
              </a:rPr>
              <a:t>•  Categorias: propósito, critérios, transparência, distribuição, limitações.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417320"/>
            <a:ext cx="5394960" cy="4480560"/>
          </a:xfrm>
          <a:prstGeom prst="rect">
            <a:avLst/>
          </a:prstGeom>
          <a:solidFill>
            <a:srgbClr val="F3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417320"/>
            <a:ext cx="5394960" cy="640080"/>
          </a:xfrm>
          <a:prstGeom prst="rect">
            <a:avLst/>
          </a:prstGeom>
          <a:solidFill>
            <a:srgbClr val="7C5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1417320"/>
            <a:ext cx="53949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2 · Entrevistas Semiestruturadas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240280"/>
            <a:ext cx="49377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500">
                <a:solidFill>
                  <a:srgbClr val="555B66"/>
                </a:solidFill>
                <a:latin typeface="Calibri"/>
              </a:rPr>
              <a:t>•  12 moderadores do Mastodon, 7 países, 26–55 anos.</a:t>
            </a:r>
          </a:p>
          <a:p>
            <a:pPr>
              <a:spcAft>
                <a:spcPts val="1100"/>
              </a:spcAft>
            </a:pPr>
            <a:r>
              <a:rPr sz="1500">
                <a:solidFill>
                  <a:srgbClr val="555B66"/>
                </a:solidFill>
                <a:latin typeface="Calibri"/>
              </a:rPr>
              <a:t>•  ~1 hora cada, via Zoom; análise temática.</a:t>
            </a:r>
          </a:p>
          <a:p>
            <a:pPr>
              <a:spcAft>
                <a:spcPts val="1100"/>
              </a:spcAft>
            </a:pPr>
            <a:r>
              <a:rPr sz="1500">
                <a:solidFill>
                  <a:srgbClr val="555B66"/>
                </a:solidFill>
                <a:latin typeface="Calibri"/>
              </a:rPr>
              <a:t>•  1ª metade: práticas atuais de uso das blocklists (RQ2).</a:t>
            </a:r>
          </a:p>
          <a:p>
            <a:pPr>
              <a:spcAft>
                <a:spcPts val="1100"/>
              </a:spcAft>
            </a:pPr>
            <a:r>
              <a:rPr sz="1500">
                <a:solidFill>
                  <a:srgbClr val="555B66"/>
                </a:solidFill>
                <a:latin typeface="Calibri"/>
              </a:rPr>
              <a:t>•  2ª metade: protótipo (React/Vite) como "design probe" — filtros por categoria, níveis de severidade e comentários (RQ3).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55B66"/>
                </a:solidFill>
                <a:latin typeface="Calibri"/>
              </a:rPr>
              <a:t>Community-Level Blocklists in Decentralized Social Media — Zhang et al., 2025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5B8DEF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8000"/>
          </a:xfrm>
          <a:prstGeom prst="rect">
            <a:avLst/>
          </a:prstGeom>
          <a:solidFill>
            <a:srgbClr val="5B8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9728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RQ1 — Panorama das Blocklists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B9CBEE"/>
                </a:solidFill>
                <a:latin typeface="Calibri"/>
              </a:rPr>
              <a:t>Heterogêneas e pouco transparentes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5943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555B66"/>
                </a:solidFill>
                <a:latin typeface="Calibri"/>
              </a:rPr>
              <a:t>•  Só 20,1% das 1.807 instâncias compartilham publicamente sua blocklist.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555B66"/>
                </a:solidFill>
                <a:latin typeface="Calibri"/>
              </a:rPr>
              <a:t>•  Entre essas, menos da metade (46,4%) dá o motivo do bloqueio → lacuna de transparência.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555B66"/>
                </a:solidFill>
                <a:latin typeface="Calibri"/>
              </a:rPr>
              <a:t>•  Instâncias maiores compartilham mais (1000+ usuários: 45,3% vs. 10–24: 13,9%).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555B66"/>
                </a:solidFill>
                <a:latin typeface="Calibri"/>
              </a:rPr>
              <a:t>•  Blocklists baseiam-se em curadoria manual e fontes externas, muitas vezes não divulgadas.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555B66"/>
                </a:solidFill>
                <a:latin typeface="Calibri"/>
              </a:rPr>
              <a:t>•  Vieses recorrentes: foco no inglês, perspectiva do Norte Global, atualização lenta.</a:t>
            </a:r>
          </a:p>
        </p:txBody>
      </p:sp>
      <p:sp>
        <p:nvSpPr>
          <p:cNvPr id="7" name="Rectangle 6"/>
          <p:cNvSpPr/>
          <p:nvPr/>
        </p:nvSpPr>
        <p:spPr>
          <a:xfrm>
            <a:off x="6766560" y="1417320"/>
            <a:ext cx="4892040" cy="4526280"/>
          </a:xfrm>
          <a:prstGeom prst="rect">
            <a:avLst/>
          </a:prstGeom>
          <a:solidFill>
            <a:srgbClr val="F3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766560" y="1417320"/>
            <a:ext cx="4892040" cy="45000"/>
          </a:xfrm>
          <a:prstGeom prst="rect">
            <a:avLst/>
          </a:prstGeom>
          <a:solidFill>
            <a:srgbClr val="5B8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0" y="1691640"/>
            <a:ext cx="438912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1">
                <a:solidFill>
                  <a:srgbClr val="1B2A4A"/>
                </a:solidFill>
                <a:latin typeface="Calibri"/>
              </a:rPr>
              <a:t>Top motivos de bloqueio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00" b="0">
                <a:solidFill>
                  <a:srgbClr val="555B66"/>
                </a:solidFill>
                <a:latin typeface="Calibri"/>
              </a:rPr>
              <a:t>Spam  </a:t>
            </a:r>
            <a:r>
              <a:rPr sz="1400" b="1">
                <a:solidFill>
                  <a:srgbClr val="7C5CE6"/>
                </a:solidFill>
                <a:latin typeface="Calibri"/>
              </a:rPr>
              <a:t>69,8%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00" b="0">
                <a:solidFill>
                  <a:srgbClr val="555B66"/>
                </a:solidFill>
                <a:latin typeface="Calibri"/>
              </a:rPr>
              <a:t>Assédio / Troll  </a:t>
            </a:r>
            <a:r>
              <a:rPr sz="1400" b="1">
                <a:solidFill>
                  <a:srgbClr val="7C5CE6"/>
                </a:solidFill>
                <a:latin typeface="Calibri"/>
              </a:rPr>
              <a:t>50,3%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00" b="0">
                <a:solidFill>
                  <a:srgbClr val="555B66"/>
                </a:solidFill>
                <a:latin typeface="Calibri"/>
              </a:rPr>
              <a:t>Bots  </a:t>
            </a:r>
            <a:r>
              <a:rPr sz="1400" b="1">
                <a:solidFill>
                  <a:srgbClr val="7C5CE6"/>
                </a:solidFill>
                <a:latin typeface="Calibri"/>
              </a:rPr>
              <a:t>47,3%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00" b="0">
                <a:solidFill>
                  <a:srgbClr val="555B66"/>
                </a:solidFill>
                <a:latin typeface="Calibri"/>
              </a:rPr>
              <a:t>Discurso de ódio  </a:t>
            </a:r>
            <a:r>
              <a:rPr sz="1400" b="1">
                <a:solidFill>
                  <a:srgbClr val="7C5CE6"/>
                </a:solidFill>
                <a:latin typeface="Calibri"/>
              </a:rPr>
              <a:t>37,9%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00" b="0">
                <a:solidFill>
                  <a:srgbClr val="555B66"/>
                </a:solidFill>
                <a:latin typeface="Calibri"/>
              </a:rPr>
              <a:t>CSAM / abuso infantil  </a:t>
            </a:r>
            <a:r>
              <a:rPr sz="1400" b="1">
                <a:solidFill>
                  <a:srgbClr val="7C5CE6"/>
                </a:solidFill>
                <a:latin typeface="Calibri"/>
              </a:rPr>
              <a:t>33,7%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00" b="0">
                <a:solidFill>
                  <a:srgbClr val="555B66"/>
                </a:solidFill>
                <a:latin typeface="Calibri"/>
              </a:rPr>
              <a:t>Desinformação  </a:t>
            </a:r>
            <a:r>
              <a:rPr sz="1400" b="1">
                <a:solidFill>
                  <a:srgbClr val="7C5CE6"/>
                </a:solidFill>
                <a:latin typeface="Calibri"/>
              </a:rPr>
              <a:t>29,6%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00" b="0">
                <a:solidFill>
                  <a:srgbClr val="555B66"/>
                </a:solidFill>
                <a:latin typeface="Calibri"/>
              </a:rPr>
              <a:t>Transfobia  </a:t>
            </a:r>
            <a:r>
              <a:rPr sz="1400" b="1">
                <a:solidFill>
                  <a:srgbClr val="7C5CE6"/>
                </a:solidFill>
                <a:latin typeface="Calibri"/>
              </a:rPr>
              <a:t>21,9%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00" b="0">
                <a:solidFill>
                  <a:srgbClr val="555B66"/>
                </a:solidFill>
                <a:latin typeface="Calibri"/>
              </a:rPr>
              <a:t>Racismo  </a:t>
            </a:r>
            <a:r>
              <a:rPr sz="1400" b="1">
                <a:solidFill>
                  <a:srgbClr val="7C5CE6"/>
                </a:solidFill>
                <a:latin typeface="Calibri"/>
              </a:rPr>
              <a:t>17,8%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55B66"/>
                </a:solidFill>
                <a:latin typeface="Calibri"/>
              </a:rPr>
              <a:t>Community-Level Blocklists in Decentralized Social Media — Zhang et al., 2025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5B8DEF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8000"/>
          </a:xfrm>
          <a:prstGeom prst="rect">
            <a:avLst/>
          </a:prstGeom>
          <a:solidFill>
            <a:srgbClr val="5B8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9728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RQ1 — Blocklists e Ferramentas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B9CBEE"/>
                </a:solidFill>
                <a:latin typeface="Calibri"/>
              </a:rPr>
              <a:t>Diferentes filosofias de moderação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3474720" cy="86868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417320"/>
            <a:ext cx="32461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Garden Fence / CARIAD</a:t>
            </a:r>
          </a:p>
        </p:txBody>
      </p:sp>
      <p:sp>
        <p:nvSpPr>
          <p:cNvPr id="8" name="Rectangle 7"/>
          <p:cNvSpPr/>
          <p:nvPr/>
        </p:nvSpPr>
        <p:spPr>
          <a:xfrm>
            <a:off x="4023360" y="1417320"/>
            <a:ext cx="7589520" cy="868680"/>
          </a:xfrm>
          <a:prstGeom prst="rect">
            <a:avLst/>
          </a:prstGeom>
          <a:solidFill>
            <a:srgbClr val="F3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06240" y="1417320"/>
            <a:ext cx="72694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555B66"/>
                </a:solidFill>
                <a:latin typeface="Calibri"/>
              </a:rPr>
              <a:t>Amplo consenso; domínios amplamente bloqueados (protege por abrangência).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359152"/>
            <a:ext cx="3474720" cy="86868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359152"/>
            <a:ext cx="32461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IFTAS-DNI / FediNuke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23360" y="2359152"/>
            <a:ext cx="7589520" cy="868680"/>
          </a:xfrm>
          <a:prstGeom prst="rect">
            <a:avLst/>
          </a:prstGeom>
          <a:solidFill>
            <a:srgbClr val="F3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06240" y="2359152"/>
            <a:ext cx="72694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555B66"/>
                </a:solidFill>
                <a:latin typeface="Calibri"/>
              </a:rPr>
              <a:t>Foco em severidade: instâncias notoriamente prejudiciais.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300984"/>
            <a:ext cx="3474720" cy="86868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300984"/>
            <a:ext cx="32461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Seirdy Tier-0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023360" y="3300984"/>
            <a:ext cx="7589520" cy="868680"/>
          </a:xfrm>
          <a:prstGeom prst="rect">
            <a:avLst/>
          </a:prstGeom>
          <a:solidFill>
            <a:srgbClr val="F3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06240" y="3300984"/>
            <a:ext cx="72694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555B66"/>
                </a:solidFill>
                <a:latin typeface="Calibri"/>
              </a:rPr>
              <a:t>Consenso (≥15 de 27 listas); "receipts" documentando decisões.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242816"/>
            <a:ext cx="3474720" cy="86868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242816"/>
            <a:ext cx="32461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FediCheck / FediBlockHole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23360" y="4242816"/>
            <a:ext cx="7589520" cy="868680"/>
          </a:xfrm>
          <a:prstGeom prst="rect">
            <a:avLst/>
          </a:prstGeom>
          <a:solidFill>
            <a:srgbClr val="F3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06240" y="4242816"/>
            <a:ext cx="72694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555B66"/>
                </a:solidFill>
                <a:latin typeface="Calibri"/>
              </a:rPr>
              <a:t>"Moderação como serviço": sincroniza listas confiáveis, usuário mantém controle.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184648"/>
            <a:ext cx="3474720" cy="86868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184648"/>
            <a:ext cx="32461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Fediseer / The Bad Space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023360" y="5184648"/>
            <a:ext cx="7589520" cy="868680"/>
          </a:xfrm>
          <a:prstGeom prst="rect">
            <a:avLst/>
          </a:prstGeom>
          <a:solidFill>
            <a:srgbClr val="F3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06240" y="5184648"/>
            <a:ext cx="72694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555B66"/>
                </a:solidFill>
                <a:latin typeface="Calibri"/>
              </a:rPr>
              <a:t>Classificação e transparência; sinaliza instâncias via múltiplas comunidades.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55B66"/>
                </a:solidFill>
                <a:latin typeface="Calibri"/>
              </a:rPr>
              <a:t>Community-Level Blocklists in Decentralized Social Media — Zhang et al., 2025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5B8DEF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8000"/>
          </a:xfrm>
          <a:prstGeom prst="rect">
            <a:avLst/>
          </a:prstGeom>
          <a:solidFill>
            <a:srgbClr val="5B8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9728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RQ2 — Três Abordagens de Decisão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B9CBEE"/>
                </a:solidFill>
                <a:latin typeface="Calibri"/>
              </a:rPr>
              <a:t>Prioridades concorrentes na moderação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3611880" cy="4297680"/>
          </a:xfrm>
          <a:prstGeom prst="rect">
            <a:avLst/>
          </a:prstGeom>
          <a:solidFill>
            <a:srgbClr val="F3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508760"/>
            <a:ext cx="3611880" cy="868680"/>
          </a:xfrm>
          <a:prstGeom prst="rect">
            <a:avLst/>
          </a:prstGeom>
          <a:solidFill>
            <a:srgbClr val="5B8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36118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Abertura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560320"/>
            <a:ext cx="315468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400" b="1">
                <a:solidFill>
                  <a:srgbClr val="1B2A4A"/>
                </a:solidFill>
                <a:latin typeface="Calibri"/>
              </a:rPr>
              <a:t>Reativa, baseada em denúncias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400" b="0">
                <a:solidFill>
                  <a:srgbClr val="555B66"/>
                </a:solidFill>
                <a:latin typeface="Calibri"/>
              </a:rPr>
              <a:t>✓ Valoriza conexão e livre expressão.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5B8DEF"/>
                </a:solidFill>
                <a:latin typeface="Calibri"/>
              </a:rPr>
              <a:t>⚠ Risco: exposição a atores nocivos.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15968" y="1508760"/>
            <a:ext cx="3611880" cy="4297680"/>
          </a:xfrm>
          <a:prstGeom prst="rect">
            <a:avLst/>
          </a:prstGeom>
          <a:solidFill>
            <a:srgbClr val="F3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15968" y="1508760"/>
            <a:ext cx="3611880" cy="868680"/>
          </a:xfrm>
          <a:prstGeom prst="rect">
            <a:avLst/>
          </a:prstGeom>
          <a:solidFill>
            <a:srgbClr val="7C5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15968" y="1508760"/>
            <a:ext cx="36118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Segurança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560320"/>
            <a:ext cx="315468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400" b="1">
                <a:solidFill>
                  <a:srgbClr val="1B2A4A"/>
                </a:solidFill>
                <a:latin typeface="Calibri"/>
              </a:rPr>
              <a:t>Proativa, baseada em busca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400" b="0">
                <a:solidFill>
                  <a:srgbClr val="555B66"/>
                </a:solidFill>
                <a:latin typeface="Calibri"/>
              </a:rPr>
              <a:t>✓ Bloqueio antecipado de más instâncias.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7C5CE6"/>
                </a:solidFill>
                <a:latin typeface="Calibri"/>
              </a:rPr>
              <a:t>⚠ Risco: penalizar atores de boa-fé.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83296" y="1508760"/>
            <a:ext cx="3611880" cy="4297680"/>
          </a:xfrm>
          <a:prstGeom prst="rect">
            <a:avLst/>
          </a:prstGeom>
          <a:solidFill>
            <a:srgbClr val="F3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83296" y="1508760"/>
            <a:ext cx="3611880" cy="868680"/>
          </a:xfrm>
          <a:prstGeom prst="rect">
            <a:avLst/>
          </a:prstGeom>
          <a:solidFill>
            <a:srgbClr val="2EA0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83296" y="1508760"/>
            <a:ext cx="36118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Contexto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1896" y="2560320"/>
            <a:ext cx="315468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400" b="1">
                <a:solidFill>
                  <a:srgbClr val="1B2A4A"/>
                </a:solidFill>
                <a:latin typeface="Calibri"/>
              </a:rPr>
              <a:t>Revisão manual e cuidadosa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400" b="0">
                <a:solidFill>
                  <a:srgbClr val="555B66"/>
                </a:solidFill>
                <a:latin typeface="Calibri"/>
              </a:rPr>
              <a:t>✓ Decisões justas e ponderadas.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2EA07B"/>
                </a:solidFill>
                <a:latin typeface="Calibri"/>
              </a:rPr>
              <a:t>⚠ Risco: muito trabalhosa.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94360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B2A4A"/>
                </a:solidFill>
                <a:latin typeface="Calibri"/>
              </a:rPr>
              <a:t>Não são mutuamente exclusivas: moderadores alternam entre as abordagens conforme valores, metas e recursos da comunidade.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55B66"/>
                </a:solidFill>
                <a:latin typeface="Calibri"/>
              </a:rPr>
              <a:t>Community-Level Blocklists in Decentralized Social Media — Zhang et al., 2025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5B8DEF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8000"/>
          </a:xfrm>
          <a:prstGeom prst="rect">
            <a:avLst/>
          </a:prstGeom>
          <a:solidFill>
            <a:srgbClr val="5B8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9728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RQ3 — Necessidades de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B9CBEE"/>
                </a:solidFill>
                <a:latin typeface="Calibri"/>
              </a:rPr>
              <a:t>O que tornaria as blocklists melhores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164592" cy="1371600"/>
          </a:xfrm>
          <a:prstGeom prst="rect">
            <a:avLst/>
          </a:prstGeom>
          <a:solidFill>
            <a:srgbClr val="5B8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13232" y="1463040"/>
            <a:ext cx="10927080" cy="1371600"/>
          </a:xfrm>
          <a:prstGeom prst="rect">
            <a:avLst/>
          </a:prstGeom>
          <a:solidFill>
            <a:srgbClr val="F3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72768"/>
            <a:ext cx="104241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1B2A4A"/>
                </a:solidFill>
                <a:latin typeface="Calibri"/>
              </a:rPr>
              <a:t>Colaboração comunitária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555B66"/>
                </a:solidFill>
                <a:latin typeface="Calibri"/>
              </a:rPr>
              <a:t>Votação interna, listas de "suspeitos", bibliotecas públicas de "receipts", scorecards e um "marketplace de blocklists".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971800"/>
            <a:ext cx="164592" cy="1371600"/>
          </a:xfrm>
          <a:prstGeom prst="rect">
            <a:avLst/>
          </a:prstGeom>
          <a:solidFill>
            <a:srgbClr val="7C5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" y="2971800"/>
            <a:ext cx="10927080" cy="1371600"/>
          </a:xfrm>
          <a:prstGeom prst="rect">
            <a:avLst/>
          </a:prstGeom>
          <a:solidFill>
            <a:srgbClr val="F3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081528"/>
            <a:ext cx="104241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1B2A4A"/>
                </a:solidFill>
                <a:latin typeface="Calibri"/>
              </a:rPr>
              <a:t>Eficiência e gestão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555B66"/>
                </a:solidFill>
                <a:latin typeface="Calibri"/>
              </a:rPr>
              <a:t>Filtros por categoria (spam, assédio…), automação para detectar e aplicar bloqueios, integração ao Mastodon.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480560"/>
            <a:ext cx="164592" cy="1371600"/>
          </a:xfrm>
          <a:prstGeom prst="rect">
            <a:avLst/>
          </a:prstGeom>
          <a:solidFill>
            <a:srgbClr val="2EA0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4480560"/>
            <a:ext cx="10927080" cy="1371600"/>
          </a:xfrm>
          <a:prstGeom prst="rect">
            <a:avLst/>
          </a:prstGeom>
          <a:solidFill>
            <a:srgbClr val="F3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590288"/>
            <a:ext cx="104241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1B2A4A"/>
                </a:solidFill>
                <a:latin typeface="Calibri"/>
              </a:rPr>
              <a:t>Monitoramento e visibilidade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555B66"/>
                </a:solidFill>
                <a:latin typeface="Calibri"/>
              </a:rPr>
              <a:t>Métricas por instância (atividade, população, denúncias), quem mais bloqueou, comentários e "receipts" com data/fonte.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55B66"/>
                </a:solidFill>
                <a:latin typeface="Calibri"/>
              </a:rPr>
              <a:t>Community-Level Blocklists in Decentralized Social Media — Zhang et al., 2025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5B8DEF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8000"/>
          </a:xfrm>
          <a:prstGeom prst="rect">
            <a:avLst/>
          </a:prstGeom>
          <a:solidFill>
            <a:srgbClr val="5B8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9728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Discussão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836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B9CBEE"/>
                </a:solidFill>
                <a:latin typeface="Calibri"/>
              </a:rPr>
              <a:t>Implicações para moderação descentralizada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1700">
                <a:solidFill>
                  <a:srgbClr val="555B66"/>
                </a:solidFill>
                <a:latin typeface="Calibri"/>
              </a:rPr>
              <a:t>•  Equilibrar prioridades concorrentes: abordagem híbrida integra abertura, segurança e contexto em vez de opô-las.</a:t>
            </a:r>
          </a:p>
          <a:p>
            <a:pPr>
              <a:spcAft>
                <a:spcPts val="1500"/>
              </a:spcAft>
            </a:pPr>
            <a:r>
              <a:rPr sz="1700">
                <a:solidFill>
                  <a:srgbClr val="555B66"/>
                </a:solidFill>
                <a:latin typeface="Calibri"/>
              </a:rPr>
              <a:t>•  Responsabilidade ampliada: bloqueios comunitários podem isolar comunidades inteiras — poder e risco maiores para moderadores.</a:t>
            </a:r>
          </a:p>
          <a:p>
            <a:pPr lvl="1">
              <a:spcAft>
                <a:spcPts val="1500"/>
              </a:spcAft>
            </a:pPr>
            <a:r>
              <a:rPr sz="1500">
                <a:solidFill>
                  <a:srgbClr val="555B66"/>
                </a:solidFill>
                <a:latin typeface="Calibri"/>
              </a:rPr>
              <a:t>–  O verdadeiro obstáculo não é falta de consciência dos moderadores, e sim a inadequação das ferramentas atuais.</a:t>
            </a:r>
          </a:p>
          <a:p>
            <a:pPr>
              <a:spcAft>
                <a:spcPts val="1500"/>
              </a:spcAft>
            </a:pPr>
            <a:r>
              <a:rPr sz="1700">
                <a:solidFill>
                  <a:srgbClr val="555B66"/>
                </a:solidFill>
                <a:latin typeface="Calibri"/>
              </a:rPr>
              <a:t>•  Moderação colaborativa entre instâncias: documentação estruturada, tags universais, suporte multilíngue e "covenants digitais".</a:t>
            </a:r>
          </a:p>
          <a:p>
            <a:pPr>
              <a:spcAft>
                <a:spcPts val="1500"/>
              </a:spcAft>
            </a:pPr>
            <a:r>
              <a:rPr sz="1700">
                <a:solidFill>
                  <a:srgbClr val="555B66"/>
                </a:solidFill>
                <a:latin typeface="Calibri"/>
              </a:rPr>
              <a:t>•  Transparência confiável: métricas de domínio e metadados sobre origem e critérios das listas aumentam confiança e legitimidade.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55B66"/>
                </a:solidFill>
                <a:latin typeface="Calibri"/>
              </a:rPr>
              <a:t>Community-Level Blocklists in Decentralized Social Media — Zhang et al., 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5B8DEF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8000"/>
          </a:xfrm>
          <a:prstGeom prst="rect">
            <a:avLst/>
          </a:prstGeom>
          <a:solidFill>
            <a:srgbClr val="5B8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9728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Limitações e Conclusão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5394960" cy="4480560"/>
          </a:xfrm>
          <a:prstGeom prst="rect">
            <a:avLst/>
          </a:prstGeom>
          <a:solidFill>
            <a:srgbClr val="F3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4937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7C5CE6"/>
                </a:solidFill>
                <a:latin typeface="Calibri"/>
              </a:rPr>
              <a:t>Limitações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94560"/>
            <a:ext cx="49377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>
                <a:solidFill>
                  <a:srgbClr val="555B66"/>
                </a:solidFill>
                <a:latin typeface="Calibri"/>
              </a:rPr>
              <a:t>•  Amostra pequena (12 moderadores) → generalização limitada.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555B66"/>
                </a:solidFill>
                <a:latin typeface="Calibri"/>
              </a:rPr>
              <a:t>•  Foco em recursos populares e em inglês → possível viés de seleção.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555B66"/>
                </a:solidFill>
                <a:latin typeface="Calibri"/>
              </a:rPr>
              <a:t>•  Práticas de moderação são dinâmicas e mudam ao longo do tempo.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417320"/>
            <a:ext cx="5394960" cy="4480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600200"/>
            <a:ext cx="4937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8FB4F2"/>
                </a:solidFill>
                <a:latin typeface="Calibri"/>
              </a:rPr>
              <a:t>Conclusão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194560"/>
            <a:ext cx="49377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>
                <a:solidFill>
                  <a:srgbClr val="D5DEF0"/>
                </a:solidFill>
                <a:latin typeface="Calibri"/>
              </a:rPr>
              <a:t>•  Blocklists comunitárias são essenciais e refletem filosofias diversas de moderação.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D5DEF0"/>
                </a:solidFill>
                <a:latin typeface="Calibri"/>
              </a:rPr>
              <a:t>•  Moderadores transitam entre abertura, segurança e contexto.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D5DEF0"/>
                </a:solidFill>
                <a:latin typeface="Calibri"/>
              </a:rPr>
              <a:t>•  Persistem desafios de esforço, transparência e colaboração.</a:t>
            </a:r>
          </a:p>
          <a:p>
            <a:pPr>
              <a:spcAft>
                <a:spcPts val="1200"/>
              </a:spcAft>
            </a:pPr>
            <a:r>
              <a:rPr sz="1500">
                <a:solidFill>
                  <a:srgbClr val="D5DEF0"/>
                </a:solidFill>
                <a:latin typeface="Calibri"/>
              </a:rPr>
              <a:t>•  Futuro: ferramentas flexíveis, transparentes e colaborativas para comunidades descentralizadas resilientes.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555B66"/>
                </a:solidFill>
                <a:latin typeface="Calibri"/>
              </a:rPr>
              <a:t>Community-Level Blocklists in Decentralized Social Media — Zhang et al., 2025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5B8DEF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788920"/>
            <a:ext cx="2926080" cy="50000"/>
          </a:xfrm>
          <a:prstGeom prst="rect">
            <a:avLst/>
          </a:prstGeom>
          <a:solidFill>
            <a:srgbClr val="5B8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Calibri"/>
              </a:rPr>
              <a:t>Obrigado!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108960"/>
            <a:ext cx="105156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2000" b="0">
                <a:solidFill>
                  <a:srgbClr val="C9D6F0"/>
                </a:solidFill>
                <a:latin typeface="Calibri"/>
              </a:rPr>
              <a:t>Perguntas e discussão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555B66"/>
                </a:solidFill>
                <a:latin typeface="Calibri"/>
              </a:rPr>
              <a:t>Zhang, Hwang, Liu, Horta Ribeiro &amp; Monroy-Hernández (2025) — Princeton University · arXiv:2506.05522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